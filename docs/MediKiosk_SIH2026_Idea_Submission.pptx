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buNone/>
              <a:defRPr sz="2800" b="1">
                <a:solidFill>
                  <a:srgbClr val="00306B"/>
                </a:solidFill>
                <a:latin typeface="Times New Roman"/>
              </a:defRPr>
            </a:pPr>
            <a:r>
              <a:t>TITLE PAGE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6217920" cy="411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  <a:buNone/>
            </a:pPr>
            <a:r>
              <a:rPr sz="1800" b="1">
                <a:solidFill>
                  <a:srgbClr val="1E293B"/>
                </a:solidFill>
                <a:latin typeface="Arial"/>
              </a:rPr>
              <a:t>Problem Statement ID – </a:t>
            </a:r>
            <a:r>
              <a:rPr sz="1800" b="0">
                <a:solidFill>
                  <a:srgbClr val="0B3C7D"/>
                </a:solidFill>
                <a:latin typeface="Arial"/>
              </a:rPr>
              <a:t>26047</a:t>
            </a:r>
            <a:endParaRPr lang="en-US" dirty="0"/>
          </a:p>
          <a:p>
            <a:pPr>
              <a:spcBef>
                <a:spcPts val="400"/>
              </a:spcBef>
              <a:spcAft>
                <a:spcPts val="1200"/>
              </a:spcAft>
              <a:buNone/>
            </a:pPr>
            <a:r>
              <a:rPr sz="1800" b="1">
                <a:solidFill>
                  <a:srgbClr val="1E293B"/>
                </a:solidFill>
                <a:latin typeface="Arial"/>
              </a:rPr>
              <a:t>Problem Statement Title – </a:t>
            </a:r>
            <a:r>
              <a:rPr sz="1800" b="0">
                <a:solidFill>
                  <a:srgbClr val="0B3C7D"/>
                </a:solidFill>
                <a:latin typeface="Arial"/>
              </a:rPr>
              <a:t>Patient Case-Taking Software</a:t>
            </a:r>
          </a:p>
          <a:p>
            <a:pPr>
              <a:spcBef>
                <a:spcPts val="400"/>
              </a:spcBef>
              <a:spcAft>
                <a:spcPts val="1200"/>
              </a:spcAft>
              <a:buNone/>
            </a:pPr>
            <a:r>
              <a:rPr sz="1800" b="1">
                <a:solidFill>
                  <a:srgbClr val="1E293B"/>
                </a:solidFill>
                <a:latin typeface="Arial"/>
              </a:rPr>
              <a:t>Theme – </a:t>
            </a:r>
            <a:r>
              <a:rPr sz="1800" b="0">
                <a:solidFill>
                  <a:srgbClr val="0B3C7D"/>
                </a:solidFill>
                <a:latin typeface="Arial"/>
              </a:rPr>
              <a:t>Smart Automation</a:t>
            </a:r>
          </a:p>
          <a:p>
            <a:pPr>
              <a:spcBef>
                <a:spcPts val="400"/>
              </a:spcBef>
              <a:spcAft>
                <a:spcPts val="1200"/>
              </a:spcAft>
              <a:buNone/>
            </a:pPr>
            <a:r>
              <a:rPr sz="1800" b="1">
                <a:solidFill>
                  <a:srgbClr val="1E293B"/>
                </a:solidFill>
                <a:latin typeface="Arial"/>
              </a:rPr>
              <a:t>PS Category – </a:t>
            </a:r>
            <a:r>
              <a:rPr sz="1800" b="0">
                <a:solidFill>
                  <a:srgbClr val="0B3C7D"/>
                </a:solidFill>
                <a:latin typeface="Arial"/>
              </a:rPr>
              <a:t>Software</a:t>
            </a:r>
          </a:p>
          <a:p>
            <a:pPr>
              <a:spcBef>
                <a:spcPts val="400"/>
              </a:spcBef>
              <a:spcAft>
                <a:spcPts val="1200"/>
              </a:spcAft>
              <a:buNone/>
            </a:pPr>
            <a:r>
              <a:rPr sz="1800" b="1">
                <a:solidFill>
                  <a:srgbClr val="1E293B"/>
                </a:solidFill>
                <a:latin typeface="Arial"/>
              </a:rPr>
              <a:t>Team ID – </a:t>
            </a:r>
            <a:r>
              <a:rPr sz="1800" b="0">
                <a:solidFill>
                  <a:srgbClr val="475569"/>
                </a:solidFill>
                <a:latin typeface="Arial"/>
              </a:rPr>
              <a:t>[Insert Team ID]</a:t>
            </a:r>
          </a:p>
          <a:p>
            <a:pPr>
              <a:spcBef>
                <a:spcPts val="400"/>
              </a:spcBef>
              <a:spcAft>
                <a:spcPts val="1200"/>
              </a:spcAft>
              <a:buNone/>
            </a:pPr>
            <a:r>
              <a:rPr sz="1800" b="1">
                <a:solidFill>
                  <a:srgbClr val="1E293B"/>
                </a:solidFill>
                <a:latin typeface="Arial"/>
              </a:rPr>
              <a:t>Team Name – </a:t>
            </a:r>
            <a:r>
              <a:rPr sz="1800" b="0">
                <a:solidFill>
                  <a:srgbClr val="475569"/>
                </a:solidFill>
                <a:latin typeface="Arial"/>
              </a:rPr>
              <a:t>[Insert Team Name]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buNone/>
              <a:defRPr sz="3200" b="1">
                <a:solidFill>
                  <a:srgbClr val="00306B"/>
                </a:solidFill>
                <a:latin typeface="Times New Roman"/>
              </a:defRPr>
            </a:pPr>
            <a:r>
              <a:t>IDEA TITLE: MediKiosk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48640" y="1234440"/>
            <a:ext cx="109728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400"/>
              </a:spcAft>
              <a:buFont typeface="Wingdings" panose="05000000000000000000" pitchFamily="2" charset="2"/>
              <a:buNone/>
              <a:defRPr sz="1450" b="1">
                <a:solidFill>
                  <a:srgbClr val="0B3C7D"/>
                </a:solidFill>
                <a:latin typeface="Arial"/>
              </a:defRPr>
            </a:pPr>
            <a:r>
              <a:t>MediKiosk — Sovereign Multimodal AI Clinical Intake &amp; ABDM Digitization Platform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100"/>
              </a:spcBef>
              <a:spcAft>
                <a:spcPts val="300"/>
              </a:spcAft>
              <a:buNone/>
            </a:pPr>
            <a:r>
              <a:rPr sz="1150" b="1">
                <a:solidFill>
                  <a:srgbClr val="0066CC"/>
                </a:solidFill>
                <a:latin typeface="Arial"/>
              </a:rPr>
              <a:t>• </a:t>
            </a:r>
            <a:r>
              <a:rPr sz="1150" b="1">
                <a:solidFill>
                  <a:srgbClr val="1E293B"/>
                </a:solidFill>
                <a:latin typeface="Arial"/>
              </a:rPr>
              <a:t>Autonomous Point-of-Entry Kiosk: </a:t>
            </a:r>
            <a:r>
              <a:rPr sz="1100">
                <a:solidFill>
                  <a:srgbClr val="475569"/>
                </a:solidFill>
                <a:latin typeface="Arial"/>
              </a:rPr>
              <a:t>Deployed at OPD entry points to capture a patient's comprehensive medical history via voice + touch and digitize physical medical documents before seeing the doctor.</a:t>
            </a:r>
          </a:p>
          <a:p>
            <a:pPr>
              <a:spcBef>
                <a:spcPts val="100"/>
              </a:spcBef>
              <a:spcAft>
                <a:spcPts val="300"/>
              </a:spcAft>
              <a:buNone/>
            </a:pPr>
            <a:r>
              <a:rPr sz="1150" b="1">
                <a:solidFill>
                  <a:srgbClr val="0066CC"/>
                </a:solidFill>
                <a:latin typeface="Arial"/>
              </a:rPr>
              <a:t>• </a:t>
            </a:r>
            <a:r>
              <a:rPr sz="1150" b="1">
                <a:solidFill>
                  <a:srgbClr val="1E293B"/>
                </a:solidFill>
                <a:latin typeface="Arial"/>
              </a:rPr>
              <a:t>Solves 2.1-Min Consultation Crisis: </a:t>
            </a:r>
            <a:r>
              <a:rPr sz="1100">
                <a:solidFill>
                  <a:srgbClr val="475569"/>
                </a:solidFill>
                <a:latin typeface="Arial"/>
              </a:rPr>
              <a:t>Overcomes India's severe OPD time collapse (BMJ Open, 2017) and the AYUSH Dashavidha Pariksha assessment gap by offloading structured history-taking to pre-consultation.</a:t>
            </a:r>
          </a:p>
          <a:p>
            <a:pPr>
              <a:spcBef>
                <a:spcPts val="100"/>
              </a:spcBef>
              <a:spcAft>
                <a:spcPts val="300"/>
              </a:spcAft>
              <a:buNone/>
            </a:pPr>
            <a:r>
              <a:rPr sz="1150" b="1">
                <a:solidFill>
                  <a:srgbClr val="0066CC"/>
                </a:solidFill>
                <a:latin typeface="Arial"/>
              </a:rPr>
              <a:t>• </a:t>
            </a:r>
            <a:r>
              <a:rPr sz="1150" b="1">
                <a:solidFill>
                  <a:srgbClr val="1E293B"/>
                </a:solidFill>
                <a:latin typeface="Arial"/>
              </a:rPr>
              <a:t>Dual Clinical Ontologies: </a:t>
            </a:r>
            <a:r>
              <a:rPr sz="1100">
                <a:solidFill>
                  <a:srgbClr val="475569"/>
                </a:solidFill>
                <a:latin typeface="Arial"/>
              </a:rPr>
              <a:t>Integrates Western Allopathic SOCRATES framework (Site, Onset, Character, Radiation, Associations, Time, Exacerbating, Severity) and Ayurvedic Dashavidha Pariksha in a single engine.</a:t>
            </a:r>
          </a:p>
          <a:p>
            <a:pPr>
              <a:spcBef>
                <a:spcPts val="100"/>
              </a:spcBef>
              <a:spcAft>
                <a:spcPts val="300"/>
              </a:spcAft>
              <a:buNone/>
            </a:pPr>
            <a:r>
              <a:rPr sz="1150" b="1">
                <a:solidFill>
                  <a:srgbClr val="0066CC"/>
                </a:solidFill>
                <a:latin typeface="Arial"/>
              </a:rPr>
              <a:t>• </a:t>
            </a:r>
            <a:r>
              <a:rPr sz="1150" b="1">
                <a:solidFill>
                  <a:srgbClr val="1E293B"/>
                </a:solidFill>
                <a:latin typeface="Arial"/>
              </a:rPr>
              <a:t>Sub-150ms Emergency Red-Flag Interceptor: </a:t>
            </a:r>
            <a:r>
              <a:rPr sz="1100">
                <a:solidFill>
                  <a:srgbClr val="475569"/>
                </a:solidFill>
                <a:latin typeface="Arial"/>
              </a:rPr>
              <a:t>Immediately flags acute cardiac, stroke, and respiratory distress symptoms for priority emergency triage rather than routine queueing.</a:t>
            </a:r>
          </a:p>
          <a:p>
            <a:pPr>
              <a:spcBef>
                <a:spcPts val="100"/>
              </a:spcBef>
              <a:spcAft>
                <a:spcPts val="300"/>
              </a:spcAft>
              <a:buNone/>
            </a:pPr>
            <a:r>
              <a:rPr sz="1150" b="1">
                <a:solidFill>
                  <a:srgbClr val="0066CC"/>
                </a:solidFill>
                <a:latin typeface="Arial"/>
              </a:rPr>
              <a:t>• </a:t>
            </a:r>
            <a:r>
              <a:rPr sz="1150" b="1">
                <a:solidFill>
                  <a:srgbClr val="1E293B"/>
                </a:solidFill>
                <a:latin typeface="Arial"/>
              </a:rPr>
              <a:t>100% Sovereign AI Foundation: </a:t>
            </a:r>
            <a:r>
              <a:rPr sz="1100">
                <a:solidFill>
                  <a:srgbClr val="475569"/>
                </a:solidFill>
                <a:latin typeface="Arial"/>
              </a:rPr>
              <a:t>Powered by Sarvam AI (22 Indian languages STT, 11 languages TTS, 23 languages Document VLM)—all voice and document data processed sovereignly within India.</a:t>
            </a:r>
          </a:p>
          <a:p>
            <a:pPr>
              <a:spcBef>
                <a:spcPts val="100"/>
              </a:spcBef>
              <a:spcAft>
                <a:spcPts val="300"/>
              </a:spcAft>
              <a:buNone/>
            </a:pPr>
            <a:r>
              <a:rPr sz="1150" b="1">
                <a:solidFill>
                  <a:srgbClr val="0066CC"/>
                </a:solidFill>
                <a:latin typeface="Arial"/>
              </a:rPr>
              <a:t>• </a:t>
            </a:r>
            <a:r>
              <a:rPr sz="1150" b="1">
                <a:solidFill>
                  <a:srgbClr val="1E293B"/>
                </a:solidFill>
                <a:latin typeface="Arial"/>
              </a:rPr>
              <a:t>Doctor-in-the-Loop Safeguard: </a:t>
            </a:r>
            <a:r>
              <a:rPr sz="1100">
                <a:solidFill>
                  <a:srgbClr val="475569"/>
                </a:solidFill>
                <a:latin typeface="Arial"/>
              </a:rPr>
              <a:t>Zero autonomous diagnosis—generates an editable, structured SOAP draft note allowing the physician to review complete history in 15 seconds and devote full consultation to clinical care.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548640" y="5440680"/>
            <a:ext cx="1965960" cy="566928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buNone/>
            </a:pPr>
            <a:r>
              <a:rPr sz="1000" b="1">
                <a:solidFill>
                  <a:srgbClr val="0B3C7D"/>
                </a:solidFill>
                <a:latin typeface="Arial"/>
              </a:rPr>
              <a:t>1. IDENTIFY
</a:t>
            </a:r>
            <a:r>
              <a:rPr sz="850">
                <a:solidFill>
                  <a:srgbClr val="475569"/>
                </a:solidFill>
                <a:latin typeface="Arial"/>
              </a:rPr>
              <a:t>ABHA &amp; NHCX</a:t>
            </a:r>
          </a:p>
        </p:txBody>
      </p:sp>
      <p:sp>
        <p:nvSpPr>
          <p:cNvPr id="15364" name="Right Arrow 15363"/>
          <p:cNvSpPr/>
          <p:nvPr/>
        </p:nvSpPr>
        <p:spPr>
          <a:xfrm>
            <a:off x="2569464" y="5623560"/>
            <a:ext cx="146304" cy="201168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Rounded Rectangle 15364"/>
          <p:cNvSpPr/>
          <p:nvPr/>
        </p:nvSpPr>
        <p:spPr>
          <a:xfrm>
            <a:off x="2770632" y="5440680"/>
            <a:ext cx="1965960" cy="566928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buNone/>
            </a:pPr>
            <a:r>
              <a:rPr sz="1000" b="1">
                <a:solidFill>
                  <a:srgbClr val="0B3C7D"/>
                </a:solidFill>
                <a:latin typeface="Arial"/>
              </a:rPr>
              <a:t>2. CONVERSE
</a:t>
            </a:r>
            <a:r>
              <a:rPr sz="850">
                <a:solidFill>
                  <a:srgbClr val="475569"/>
                </a:solidFill>
                <a:latin typeface="Arial"/>
              </a:rPr>
              <a:t>Voice Intake</a:t>
            </a:r>
          </a:p>
        </p:txBody>
      </p:sp>
      <p:sp>
        <p:nvSpPr>
          <p:cNvPr id="15366" name="Right Arrow 15365"/>
          <p:cNvSpPr/>
          <p:nvPr/>
        </p:nvSpPr>
        <p:spPr>
          <a:xfrm>
            <a:off x="4791456" y="5623560"/>
            <a:ext cx="146304" cy="201168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7" name="Rounded Rectangle 15366"/>
          <p:cNvSpPr/>
          <p:nvPr/>
        </p:nvSpPr>
        <p:spPr>
          <a:xfrm>
            <a:off x="4992624" y="5440680"/>
            <a:ext cx="1965960" cy="566928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buNone/>
            </a:pPr>
            <a:r>
              <a:rPr sz="1000" b="1">
                <a:solidFill>
                  <a:srgbClr val="0B3C7D"/>
                </a:solidFill>
                <a:latin typeface="Arial"/>
              </a:rPr>
              <a:t>3. SCAN
</a:t>
            </a:r>
            <a:r>
              <a:rPr sz="850">
                <a:solidFill>
                  <a:srgbClr val="475569"/>
                </a:solidFill>
                <a:latin typeface="Arial"/>
              </a:rPr>
              <a:t>OCR &amp; ABDM</a:t>
            </a:r>
          </a:p>
        </p:txBody>
      </p:sp>
      <p:sp>
        <p:nvSpPr>
          <p:cNvPr id="15368" name="Right Arrow 15367"/>
          <p:cNvSpPr/>
          <p:nvPr/>
        </p:nvSpPr>
        <p:spPr>
          <a:xfrm>
            <a:off x="7013448" y="5623560"/>
            <a:ext cx="146304" cy="201168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Rounded Rectangle 15368"/>
          <p:cNvSpPr/>
          <p:nvPr/>
        </p:nvSpPr>
        <p:spPr>
          <a:xfrm>
            <a:off x="7214616" y="5440680"/>
            <a:ext cx="1965960" cy="566928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buNone/>
            </a:pPr>
            <a:r>
              <a:rPr sz="1000" b="1">
                <a:solidFill>
                  <a:srgbClr val="0B3C7D"/>
                </a:solidFill>
                <a:latin typeface="Arial"/>
              </a:rPr>
              <a:t>4. SUMMARIZE
</a:t>
            </a:r>
            <a:r>
              <a:rPr sz="850">
                <a:solidFill>
                  <a:srgbClr val="475569"/>
                </a:solidFill>
                <a:latin typeface="Arial"/>
              </a:rPr>
              <a:t>FHIR Bundle</a:t>
            </a:r>
          </a:p>
        </p:txBody>
      </p:sp>
      <p:sp>
        <p:nvSpPr>
          <p:cNvPr id="15370" name="Right Arrow 15369"/>
          <p:cNvSpPr/>
          <p:nvPr/>
        </p:nvSpPr>
        <p:spPr>
          <a:xfrm>
            <a:off x="9235440" y="5623560"/>
            <a:ext cx="146304" cy="201168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Rounded Rectangle 15370"/>
          <p:cNvSpPr/>
          <p:nvPr/>
        </p:nvSpPr>
        <p:spPr>
          <a:xfrm>
            <a:off x="9436608" y="5440680"/>
            <a:ext cx="1965960" cy="566928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buNone/>
            </a:pPr>
            <a:r>
              <a:rPr sz="1000" b="1">
                <a:solidFill>
                  <a:srgbClr val="0B3C7D"/>
                </a:solidFill>
                <a:latin typeface="Arial"/>
              </a:rPr>
              <a:t>5. CONSULT
</a:t>
            </a:r>
            <a:r>
              <a:rPr sz="850">
                <a:solidFill>
                  <a:srgbClr val="475569"/>
                </a:solidFill>
                <a:latin typeface="Arial"/>
              </a:rPr>
              <a:t>15s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buNone/>
              <a:defRPr sz="3200" b="1">
                <a:solidFill>
                  <a:srgbClr val="00306B"/>
                </a:solidFill>
                <a:latin typeface="Times New Roman"/>
              </a:defRPr>
            </a:pPr>
            <a: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280160"/>
            <a:ext cx="10972800" cy="438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300"/>
              </a:spcAft>
              <a:buFont typeface="Arial" panose="020B0604020202020204" pitchFamily="34" charset="0"/>
              <a:buNone/>
              <a:defRPr sz="1400" b="1">
                <a:solidFill>
                  <a:srgbClr val="0B3C7D"/>
                </a:solidFill>
                <a:latin typeface="Arial"/>
              </a:defRPr>
            </a:pPr>
            <a:r>
              <a:t>1. Core Technology Stack Architecture: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0066CC"/>
                </a:solidFill>
                <a:latin typeface="Arial"/>
              </a:rPr>
              <a:t>• </a:t>
            </a:r>
            <a:r>
              <a:rPr sz="1150" b="1">
                <a:solidFill>
                  <a:srgbClr val="1E293B"/>
                </a:solidFill>
                <a:latin typeface="Arial"/>
              </a:rPr>
              <a:t>Frontend &amp; Client: </a:t>
            </a:r>
            <a:r>
              <a:rPr sz="1100">
                <a:solidFill>
                  <a:srgbClr val="475569"/>
                </a:solidFill>
                <a:latin typeface="Arial"/>
              </a:rPr>
              <a:t>Flutter 3.24 (patient kiosk UI with audio streaming &amp; touch), Next.js 15 (physician consultation dashboard).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0066CC"/>
                </a:solidFill>
                <a:latin typeface="Arial"/>
              </a:rPr>
              <a:t>• </a:t>
            </a:r>
            <a:r>
              <a:rPr sz="1150" b="1">
                <a:solidFill>
                  <a:srgbClr val="1E293B"/>
                </a:solidFill>
                <a:latin typeface="Arial"/>
              </a:rPr>
              <a:t>Backend &amp; State: </a:t>
            </a:r>
            <a:r>
              <a:rPr sz="1100">
                <a:solidFill>
                  <a:srgbClr val="475569"/>
                </a:solidFill>
                <a:latin typeface="Arial"/>
              </a:rPr>
              <a:t>FastAPI (Python 3.12 async gateway), LangGraph clinical state machine, Supabase/PostgreSQL 16 with Row-Level Security (RLS).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0066CC"/>
                </a:solidFill>
                <a:latin typeface="Arial"/>
              </a:rPr>
              <a:t>• </a:t>
            </a:r>
            <a:r>
              <a:rPr sz="1150" b="1">
                <a:solidFill>
                  <a:srgbClr val="1E293B"/>
                </a:solidFill>
                <a:latin typeface="Arial"/>
              </a:rPr>
              <a:t>Sovereign AI Foundation: </a:t>
            </a:r>
            <a:r>
              <a:rPr sz="1100">
                <a:solidFill>
                  <a:srgbClr val="475569"/>
                </a:solidFill>
                <a:latin typeface="Arial"/>
              </a:rPr>
              <a:t>Sarvam Saaras v3 (STT, 22 Indian languages), Sarvam Bulbul v3 (TTS, 11 languages), Sarvam Vision 3B VLM (Prescription/Lab OCR, 23 languages).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0066CC"/>
                </a:solidFill>
                <a:latin typeface="Arial"/>
              </a:rPr>
              <a:t>• </a:t>
            </a:r>
            <a:r>
              <a:rPr sz="1150" b="1">
                <a:solidFill>
                  <a:srgbClr val="1E293B"/>
                </a:solidFill>
                <a:latin typeface="Arial"/>
              </a:rPr>
              <a:t>National Health Integration: </a:t>
            </a:r>
            <a:r>
              <a:rPr sz="1100">
                <a:solidFill>
                  <a:srgbClr val="475569"/>
                </a:solidFill>
                <a:latin typeface="Arial"/>
              </a:rPr>
              <a:t>ABDM integration via Eka Care (NHA-certified HIP/HIU gateway for M1 ABHA, M2 HIP, M3 HIU), NHCX FHIR APIs for PM-JAY eligibility, and NRCeS-compliant HL7 FHIR R4 DocumentBundle output (bdl-11 invariant).</a:t>
            </a:r>
          </a:p>
          <a:p>
            <a:pPr>
              <a:spcBef>
                <a:spcPts val="600"/>
              </a:spcBef>
              <a:spcAft>
                <a:spcPts val="300"/>
              </a:spcAft>
              <a:buNone/>
              <a:defRPr sz="1400" b="1">
                <a:solidFill>
                  <a:srgbClr val="0B3C7D"/>
                </a:solidFill>
                <a:latin typeface="Arial"/>
              </a:defRPr>
            </a:pPr>
            <a:r>
              <a:t>2. Methodology &amp; 5-Step Clinical Implementation Pipeline:</a:t>
            </a:r>
          </a:p>
          <a:p>
            <a:pPr>
              <a:spcAft>
                <a:spcPts val="200"/>
              </a:spcAft>
              <a:buNone/>
            </a:pPr>
            <a:r>
              <a:rPr sz="1100" b="1">
                <a:solidFill>
                  <a:srgbClr val="E11D48"/>
                </a:solidFill>
                <a:latin typeface="Arial"/>
              </a:rPr>
              <a:t>➔ </a:t>
            </a:r>
            <a:r>
              <a:rPr sz="1100" b="1">
                <a:solidFill>
                  <a:srgbClr val="1E293B"/>
                </a:solidFill>
                <a:latin typeface="Arial"/>
              </a:rPr>
              <a:t>Step 1 (Identify &amp; Consent): </a:t>
            </a:r>
            <a:r>
              <a:rPr sz="1050">
                <a:solidFill>
                  <a:srgbClr val="475569"/>
                </a:solidFill>
                <a:latin typeface="Arial"/>
              </a:rPr>
              <a:t>ABHA QR Scan &amp; Share + DPDPA 2023 audio consent + NHCX PM-JAY benefit check.</a:t>
            </a:r>
          </a:p>
          <a:p>
            <a:pPr>
              <a:spcAft>
                <a:spcPts val="200"/>
              </a:spcAft>
              <a:buNone/>
            </a:pPr>
            <a:r>
              <a:rPr sz="1100" b="1">
                <a:solidFill>
                  <a:srgbClr val="E11D48"/>
                </a:solidFill>
                <a:latin typeface="Arial"/>
              </a:rPr>
              <a:t>➔ </a:t>
            </a:r>
            <a:r>
              <a:rPr sz="1100" b="1">
                <a:solidFill>
                  <a:srgbClr val="1E293B"/>
                </a:solidFill>
                <a:latin typeface="Arial"/>
              </a:rPr>
              <a:t>Step 2 (Multimodal Converse): </a:t>
            </a:r>
            <a:r>
              <a:rPr sz="1050">
                <a:solidFill>
                  <a:srgbClr val="475569"/>
                </a:solidFill>
                <a:latin typeface="Arial"/>
              </a:rPr>
              <a:t>Adaptive voice/touch interview via Sarvam Saaras + SOCRATES/Dashavidha tree + sub-150ms red-flag triage.</a:t>
            </a:r>
          </a:p>
          <a:p>
            <a:pPr>
              <a:spcAft>
                <a:spcPts val="200"/>
              </a:spcAft>
              <a:buNone/>
            </a:pPr>
            <a:r>
              <a:rPr sz="1100" b="1">
                <a:solidFill>
                  <a:srgbClr val="E11D48"/>
                </a:solidFill>
                <a:latin typeface="Arial"/>
              </a:rPr>
              <a:t>➔ </a:t>
            </a:r>
            <a:r>
              <a:rPr sz="1100" b="1">
                <a:solidFill>
                  <a:srgbClr val="1E293B"/>
                </a:solidFill>
                <a:latin typeface="Arial"/>
              </a:rPr>
              <a:t>Step 3 (Scan &amp; Fetch): </a:t>
            </a:r>
            <a:r>
              <a:rPr sz="1050">
                <a:solidFill>
                  <a:srgbClr val="475569"/>
                </a:solidFill>
                <a:latin typeface="Arial"/>
              </a:rPr>
              <a:t>Prescription OCR via Sarvam 3B VLM + Eka Care M3 HIU longitudinal health record retrieval.</a:t>
            </a:r>
          </a:p>
          <a:p>
            <a:pPr>
              <a:spcAft>
                <a:spcPts val="200"/>
              </a:spcAft>
              <a:buNone/>
            </a:pPr>
            <a:r>
              <a:rPr sz="1100" b="1">
                <a:solidFill>
                  <a:srgbClr val="E11D48"/>
                </a:solidFill>
                <a:latin typeface="Arial"/>
              </a:rPr>
              <a:t>➔ </a:t>
            </a:r>
            <a:r>
              <a:rPr sz="1100" b="1">
                <a:solidFill>
                  <a:srgbClr val="1E293B"/>
                </a:solidFill>
                <a:latin typeface="Arial"/>
              </a:rPr>
              <a:t>Step 4 (Summarize &amp; Route): </a:t>
            </a:r>
            <a:r>
              <a:rPr sz="1050">
                <a:solidFill>
                  <a:srgbClr val="475569"/>
                </a:solidFill>
                <a:latin typeface="Arial"/>
              </a:rPr>
              <a:t>Structured SOAP note generation + NRCeS FHIR R4 DocumentBundle linked to hospital HIS queue.</a:t>
            </a:r>
          </a:p>
          <a:p>
            <a:pPr>
              <a:spcAft>
                <a:spcPts val="200"/>
              </a:spcAft>
              <a:buNone/>
            </a:pPr>
            <a:r>
              <a:rPr sz="1100" b="1">
                <a:solidFill>
                  <a:srgbClr val="E11D48"/>
                </a:solidFill>
                <a:latin typeface="Arial"/>
              </a:rPr>
              <a:t>➔ </a:t>
            </a:r>
            <a:r>
              <a:rPr sz="1100" b="1">
                <a:solidFill>
                  <a:srgbClr val="1E293B"/>
                </a:solidFill>
                <a:latin typeface="Arial"/>
              </a:rPr>
              <a:t>Step 5 (15-Sec Consult): </a:t>
            </a:r>
            <a:r>
              <a:rPr sz="1050">
                <a:solidFill>
                  <a:srgbClr val="475569"/>
                </a:solidFill>
                <a:latin typeface="Arial"/>
              </a:rPr>
              <a:t>Physician reviews pre-compiled summary, edits/confirms in 15 seconds, and devotes consultation to care.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buNone/>
              <a:defRPr sz="3200" b="1">
                <a:solidFill>
                  <a:srgbClr val="00306B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280160"/>
            <a:ext cx="10972800" cy="438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tabLst/>
              <a:defRPr sz="1400" b="1">
                <a:solidFill>
                  <a:srgbClr val="0B3C7D"/>
                </a:solidFill>
                <a:latin typeface="Arial"/>
              </a:defRPr>
              <a:buNone/>
            </a:pPr>
            <a:r>
              <a:t>1. Feasibility Analysis &amp; Production Viability: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0066CC"/>
                </a:solidFill>
                <a:latin typeface="Arial"/>
              </a:rPr>
              <a:t>• </a:t>
            </a:r>
            <a:r>
              <a:rPr sz="1150" b="1">
                <a:solidFill>
                  <a:srgbClr val="1E293B"/>
                </a:solidFill>
                <a:latin typeface="Arial"/>
              </a:rPr>
              <a:t>Production-Grade Stack: </a:t>
            </a:r>
            <a:r>
              <a:rPr sz="1100">
                <a:solidFill>
                  <a:srgbClr val="475569"/>
                </a:solidFill>
                <a:latin typeface="Arial"/>
              </a:rPr>
              <a:t>Built on existing, commercially deployed sovereign APIs (Sarvam AI, Eka Care ABDM, NHCX)—requires systems integration, not unproven fundamental research.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0066CC"/>
                </a:solidFill>
                <a:latin typeface="Arial"/>
              </a:rPr>
              <a:t>• </a:t>
            </a:r>
            <a:r>
              <a:rPr sz="1150" b="1">
                <a:solidFill>
                  <a:srgbClr val="1E293B"/>
                </a:solidFill>
                <a:latin typeface="Arial"/>
              </a:rPr>
              <a:t>Established ABDM Pathway: </a:t>
            </a:r>
            <a:r>
              <a:rPr sz="1100">
                <a:solidFill>
                  <a:srgbClr val="475569"/>
                </a:solidFill>
                <a:latin typeface="Arial"/>
              </a:rPr>
              <a:t>Follows standardized NHA milestone pathways (M1 → M2 → M3) supported by official reference implementations (NHA ABDM-wrapper).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0066CC"/>
                </a:solidFill>
                <a:latin typeface="Arial"/>
              </a:rPr>
              <a:t>• </a:t>
            </a:r>
            <a:r>
              <a:rPr sz="1150" b="1">
                <a:solidFill>
                  <a:srgbClr val="1E293B"/>
                </a:solidFill>
                <a:latin typeface="Arial"/>
              </a:rPr>
              <a:t>Modest Hardware Requirements: </a:t>
            </a:r>
            <a:r>
              <a:rPr sz="1100">
                <a:solidFill>
                  <a:srgbClr val="475569"/>
                </a:solidFill>
                <a:latin typeface="Arial"/>
              </a:rPr>
              <a:t>Operates on standard off-the-shelf kiosk hardware (touchscreen, directional noise-cancelling mic, document camera), identical to airport/hospital check-in kiosks.</a:t>
            </a:r>
          </a:p>
          <a:p>
            <a:pPr>
              <a:spcBef>
                <a:spcPts val="600"/>
              </a:spcBef>
              <a:spcAft>
                <a:spcPts val="300"/>
              </a:spcAft>
              <a:buNone/>
              <a:defRPr sz="1400" b="1">
                <a:solidFill>
                  <a:srgbClr val="0B3C7D"/>
                </a:solidFill>
                <a:latin typeface="Arial"/>
              </a:defRPr>
            </a:pPr>
            <a:r>
              <a:t>2. Potential Challenges &amp; Risk Mitigation Strategies:</a:t>
            </a:r>
          </a:p>
          <a:p>
            <a:pPr>
              <a:spcAft>
                <a:spcPts val="200"/>
              </a:spcAft>
              <a:buNone/>
            </a:pPr>
            <a:r>
              <a:rPr sz="1100" b="1">
                <a:solidFill>
                  <a:srgbClr val="059669"/>
                </a:solidFill>
                <a:latin typeface="Arial"/>
              </a:rPr>
              <a:t>✔ </a:t>
            </a:r>
            <a:r>
              <a:rPr sz="1100" b="1">
                <a:solidFill>
                  <a:srgbClr val="1E293B"/>
                </a:solidFill>
                <a:latin typeface="Arial"/>
              </a:rPr>
              <a:t>OPD Acoustic Noise (≥70dB): </a:t>
            </a:r>
            <a:r>
              <a:rPr sz="1050">
                <a:solidFill>
                  <a:srgbClr val="475569"/>
                </a:solidFill>
                <a:latin typeface="Arial"/>
              </a:rPr>
              <a:t>Mitigation: Dual-mode voice + high-contrast icon touch interface as seamless fallback when voice input is disrupted.</a:t>
            </a:r>
          </a:p>
          <a:p>
            <a:pPr>
              <a:spcAft>
                <a:spcPts val="200"/>
              </a:spcAft>
              <a:buNone/>
            </a:pPr>
            <a:r>
              <a:rPr sz="1100" b="1">
                <a:solidFill>
                  <a:srgbClr val="059669"/>
                </a:solidFill>
                <a:latin typeface="Arial"/>
              </a:rPr>
              <a:t>✔ </a:t>
            </a:r>
            <a:r>
              <a:rPr sz="1100" b="1">
                <a:solidFill>
                  <a:srgbClr val="1E293B"/>
                </a:solidFill>
                <a:latin typeface="Arial"/>
              </a:rPr>
              <a:t>Low Digital Literacy: </a:t>
            </a:r>
            <a:r>
              <a:rPr sz="1050">
                <a:solidFill>
                  <a:srgbClr val="475569"/>
                </a:solidFill>
                <a:latin typeface="Arial"/>
              </a:rPr>
              <a:t>Mitigation: Icon-driven, audio-guided conversational UI (Sarvam Bulbul) requiring zero prior training (validated for rural/elderly).</a:t>
            </a:r>
          </a:p>
          <a:p>
            <a:pPr>
              <a:spcAft>
                <a:spcPts val="200"/>
              </a:spcAft>
              <a:buNone/>
            </a:pPr>
            <a:r>
              <a:rPr sz="1100" b="1">
                <a:solidFill>
                  <a:srgbClr val="059669"/>
                </a:solidFill>
                <a:latin typeface="Arial"/>
              </a:rPr>
              <a:t>✔ </a:t>
            </a:r>
            <a:r>
              <a:rPr sz="1100" b="1">
                <a:solidFill>
                  <a:srgbClr val="1E293B"/>
                </a:solidFill>
                <a:latin typeface="Arial"/>
              </a:rPr>
              <a:t>Handwriting OCR Variations: </a:t>
            </a:r>
            <a:r>
              <a:rPr sz="1050">
                <a:solidFill>
                  <a:srgbClr val="475569"/>
                </a:solidFill>
                <a:latin typeface="Arial"/>
              </a:rPr>
              <a:t>Mitigation: Sarvam 3B VLM trained on Indian prescriptions + mandatory doctor-in-the-loop verification before saving.</a:t>
            </a:r>
          </a:p>
          <a:p>
            <a:pPr>
              <a:spcAft>
                <a:spcPts val="200"/>
              </a:spcAft>
              <a:buNone/>
            </a:pPr>
            <a:r>
              <a:rPr sz="1100" b="1">
                <a:solidFill>
                  <a:srgbClr val="059669"/>
                </a:solidFill>
                <a:latin typeface="Arial"/>
              </a:rPr>
              <a:t>✔ </a:t>
            </a:r>
            <a:r>
              <a:rPr sz="1100" b="1">
                <a:solidFill>
                  <a:srgbClr val="1E293B"/>
                </a:solidFill>
                <a:latin typeface="Arial"/>
              </a:rPr>
              <a:t>Patient Trust &amp; Consent: </a:t>
            </a:r>
            <a:r>
              <a:rPr sz="1050">
                <a:solidFill>
                  <a:srgbClr val="475569"/>
                </a:solidFill>
                <a:latin typeface="Arial"/>
              </a:rPr>
              <a:t>Mitigation: Audio-guided regional explanation of DPDPA consent with cryptographic logging and ephemeral zero-trace memory.</a:t>
            </a:r>
          </a:p>
          <a:p>
            <a:pPr>
              <a:spcAft>
                <a:spcPts val="200"/>
              </a:spcAft>
              <a:buNone/>
            </a:pPr>
            <a:r>
              <a:rPr sz="1100" b="1">
                <a:solidFill>
                  <a:srgbClr val="059669"/>
                </a:solidFill>
                <a:latin typeface="Arial"/>
              </a:rPr>
              <a:t>✔ </a:t>
            </a:r>
            <a:r>
              <a:rPr sz="1100" b="1">
                <a:solidFill>
                  <a:srgbClr val="1E293B"/>
                </a:solidFill>
                <a:latin typeface="Arial"/>
              </a:rPr>
              <a:t>NHA Gateway Latency: </a:t>
            </a:r>
            <a:r>
              <a:rPr sz="1050">
                <a:solidFill>
                  <a:srgbClr val="475569"/>
                </a:solidFill>
                <a:latin typeface="Arial"/>
              </a:rPr>
              <a:t>Mitigation: Graceful offline/asynchronous fallback—kiosk completes intake locally even if ABDM/NHCX times out.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buNone/>
              <a:defRPr sz="3200" b="1">
                <a:solidFill>
                  <a:srgbClr val="00306B"/>
                </a:solidFill>
                <a:latin typeface="Times New Roman"/>
              </a:defRPr>
            </a:pPr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280160"/>
            <a:ext cx="10972800" cy="438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tabLst/>
              <a:defRPr sz="1400" b="1">
                <a:solidFill>
                  <a:srgbClr val="0B3C7D"/>
                </a:solidFill>
                <a:latin typeface="Arial"/>
              </a:defRPr>
              <a:buNone/>
            </a:pPr>
            <a:r>
              <a:t>1. Target Audience Impact: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0066CC"/>
                </a:solidFill>
                <a:latin typeface="Arial"/>
              </a:rPr>
              <a:t>• </a:t>
            </a:r>
            <a:r>
              <a:rPr sz="1150" b="1">
                <a:solidFill>
                  <a:srgbClr val="1E293B"/>
                </a:solidFill>
                <a:latin typeface="Arial"/>
              </a:rPr>
              <a:t>Patients: </a:t>
            </a:r>
            <a:r>
              <a:rPr sz="1100">
                <a:solidFill>
                  <a:srgbClr val="475569"/>
                </a:solidFill>
                <a:latin typeface="Arial"/>
              </a:rPr>
              <a:t>Elderly, rural, low-literacy, and first-visit patients currently excluded by smartphone-dependent tele-triage apps gain effortless, audio-guided OPD access.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0066CC"/>
                </a:solidFill>
                <a:latin typeface="Arial"/>
              </a:rPr>
              <a:t>• </a:t>
            </a:r>
            <a:r>
              <a:rPr sz="1150" b="1">
                <a:solidFill>
                  <a:srgbClr val="1E293B"/>
                </a:solidFill>
                <a:latin typeface="Arial"/>
              </a:rPr>
              <a:t>Physicians: </a:t>
            </a:r>
            <a:r>
              <a:rPr sz="1100">
                <a:solidFill>
                  <a:srgbClr val="475569"/>
                </a:solidFill>
                <a:latin typeface="Arial"/>
              </a:rPr>
              <a:t>Doctor documentation time cut from ~3 minutes to a 15-second review, redirecting saved clinical time to physical examination and counselling.</a:t>
            </a:r>
          </a:p>
          <a:p>
            <a:pPr>
              <a:spcAft>
                <a:spcPts val="300"/>
              </a:spcAft>
              <a:buNone/>
            </a:pPr>
            <a:r>
              <a:rPr sz="1150" b="1">
                <a:solidFill>
                  <a:srgbClr val="0066CC"/>
                </a:solidFill>
                <a:latin typeface="Arial"/>
              </a:rPr>
              <a:t>• </a:t>
            </a:r>
            <a:r>
              <a:rPr sz="1150" b="1">
                <a:solidFill>
                  <a:srgbClr val="1E293B"/>
                </a:solidFill>
                <a:latin typeface="Arial"/>
              </a:rPr>
              <a:t>AYUSH Institutions: </a:t>
            </a:r>
            <a:r>
              <a:rPr sz="1100">
                <a:solidFill>
                  <a:srgbClr val="475569"/>
                </a:solidFill>
                <a:latin typeface="Arial"/>
              </a:rPr>
              <a:t>Enables full 10-parameter Dashavidha Pariksha intake that is currently impossible to conduct manually within high-volume OPD time constraints.</a:t>
            </a:r>
          </a:p>
          <a:p>
            <a:pPr>
              <a:spcBef>
                <a:spcPts val="600"/>
              </a:spcBef>
              <a:spcAft>
                <a:spcPts val="300"/>
              </a:spcAft>
              <a:buNone/>
              <a:defRPr sz="1400" b="1">
                <a:solidFill>
                  <a:srgbClr val="0B3C7D"/>
                </a:solidFill>
                <a:latin typeface="Arial"/>
              </a:defRPr>
            </a:pPr>
            <a:r>
              <a:t>2. Multi-Dimensional Benefits:</a:t>
            </a:r>
          </a:p>
          <a:p>
            <a:pPr>
              <a:spcAft>
                <a:spcPts val="200"/>
              </a:spcAft>
              <a:buNone/>
            </a:pPr>
            <a:r>
              <a:rPr sz="1100" b="1">
                <a:solidFill>
                  <a:srgbClr val="D97706"/>
                </a:solidFill>
                <a:latin typeface="Arial"/>
              </a:rPr>
              <a:t>★ </a:t>
            </a:r>
            <a:r>
              <a:rPr sz="1100" b="1">
                <a:solidFill>
                  <a:srgbClr val="1E293B"/>
                </a:solidFill>
                <a:latin typeface="Arial"/>
              </a:rPr>
              <a:t>Social &amp; Clinical Quality: </a:t>
            </a:r>
            <a:r>
              <a:rPr sz="1050">
                <a:solidFill>
                  <a:srgbClr val="475569"/>
                </a:solidFill>
                <a:latin typeface="Arial"/>
              </a:rPr>
              <a:t>Eliminates diagnostic error from rushed history-taking; ensures sub-150ms emergency triage for critical conditions.</a:t>
            </a:r>
          </a:p>
          <a:p>
            <a:pPr>
              <a:spcAft>
                <a:spcPts val="200"/>
              </a:spcAft>
              <a:buNone/>
            </a:pPr>
            <a:r>
              <a:rPr sz="1100" b="1">
                <a:solidFill>
                  <a:srgbClr val="D97706"/>
                </a:solidFill>
                <a:latin typeface="Arial"/>
              </a:rPr>
              <a:t>★ </a:t>
            </a:r>
            <a:r>
              <a:rPr sz="1100" b="1">
                <a:solidFill>
                  <a:srgbClr val="1E293B"/>
                </a:solidFill>
                <a:latin typeface="Arial"/>
              </a:rPr>
              <a:t>Health-System Interoperability: </a:t>
            </a:r>
            <a:r>
              <a:rPr sz="1050">
                <a:solidFill>
                  <a:srgbClr val="475569"/>
                </a:solidFill>
                <a:latin typeface="Arial"/>
              </a:rPr>
              <a:t>Generates standardized ABDM-linked FHIR R4 EHRs, permanently solving paper record fragmentation across multiple providers.</a:t>
            </a:r>
          </a:p>
          <a:p>
            <a:pPr>
              <a:spcAft>
                <a:spcPts val="200"/>
              </a:spcAft>
              <a:buNone/>
            </a:pPr>
            <a:r>
              <a:rPr sz="1100" b="1">
                <a:solidFill>
                  <a:srgbClr val="D97706"/>
                </a:solidFill>
                <a:latin typeface="Arial"/>
              </a:rPr>
              <a:t>★ </a:t>
            </a:r>
            <a:r>
              <a:rPr sz="1100" b="1">
                <a:solidFill>
                  <a:srgbClr val="1E293B"/>
                </a:solidFill>
                <a:latin typeface="Arial"/>
              </a:rPr>
              <a:t>Economic Scale: </a:t>
            </a:r>
            <a:r>
              <a:rPr sz="1050">
                <a:solidFill>
                  <a:srgbClr val="475569"/>
                </a:solidFill>
                <a:latin typeface="Arial"/>
              </a:rPr>
              <a:t>Empowers high-throughput government OPDs (4,000–10,000 patients/day) to scale intake without hiring additional triage staff.</a:t>
            </a:r>
          </a:p>
          <a:p>
            <a:pPr>
              <a:spcAft>
                <a:spcPts val="200"/>
              </a:spcAft>
              <a:buNone/>
            </a:pPr>
            <a:r>
              <a:rPr sz="1100" b="1">
                <a:solidFill>
                  <a:srgbClr val="D97706"/>
                </a:solidFill>
                <a:latin typeface="Arial"/>
              </a:rPr>
              <a:t>★ </a:t>
            </a:r>
            <a:r>
              <a:rPr sz="1100" b="1">
                <a:solidFill>
                  <a:srgbClr val="1E293B"/>
                </a:solidFill>
                <a:latin typeface="Arial"/>
              </a:rPr>
              <a:t>Governance &amp; Privacy: </a:t>
            </a:r>
            <a:r>
              <a:rPr sz="1050">
                <a:solidFill>
                  <a:srgbClr val="475569"/>
                </a:solidFill>
                <a:latin typeface="Arial"/>
              </a:rPr>
              <a:t>100% compliant with DPDPA 2023 consent protocols, NRCeS FHIR standards, and sovereign in-country data residency.</a:t>
            </a:r>
          </a:p>
          <a:p>
            <a:pPr>
              <a:spcAft>
                <a:spcPts val="200"/>
              </a:spcAft>
              <a:buNone/>
            </a:pPr>
            <a:r>
              <a:rPr sz="1100" b="1">
                <a:solidFill>
                  <a:srgbClr val="D97706"/>
                </a:solidFill>
                <a:latin typeface="Arial"/>
              </a:rPr>
              <a:t>★ </a:t>
            </a:r>
            <a:r>
              <a:rPr sz="1100" b="1">
                <a:solidFill>
                  <a:srgbClr val="1E293B"/>
                </a:solidFill>
                <a:latin typeface="Arial"/>
              </a:rPr>
              <a:t>Core Transformation: </a:t>
            </a:r>
            <a:r>
              <a:rPr sz="1050">
                <a:solidFill>
                  <a:srgbClr val="475569"/>
                </a:solidFill>
                <a:latin typeface="Arial"/>
              </a:rPr>
              <a:t>Pre-consultation history time reduced by &gt;90% (from 3 minutes to 15 seconds).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buNone/>
              <a:defRPr sz="3200" b="1">
                <a:solidFill>
                  <a:srgbClr val="00306B"/>
                </a:solidFill>
                <a:latin typeface="Times New Roman"/>
              </a:defRPr>
            </a:pPr>
            <a: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280160"/>
            <a:ext cx="10972800" cy="438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1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sz="1050" b="1">
                <a:solidFill>
                  <a:srgbClr val="0066CC"/>
                </a:solidFill>
                <a:latin typeface="Arial"/>
              </a:rPr>
              <a:t>1. Primary Care Consultation Time Study: </a:t>
            </a:r>
            <a:r>
              <a:rPr sz="1000">
                <a:solidFill>
                  <a:srgbClr val="1E293B"/>
                </a:solidFill>
                <a:latin typeface="Arial"/>
              </a:rPr>
              <a:t>Irving G, Neves AL, Dambha-Miller H, et al. "International variations in primary care physician consultation time: a systematic review of 67 countries." BMJ Open. 2017;7(10):e017902. DOI: 10.1136/bmjopen-2017-017902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100"/>
              </a:spcBef>
              <a:spcAft>
                <a:spcPts val="300"/>
              </a:spcAft>
              <a:buNone/>
            </a:pPr>
            <a:r>
              <a:rPr sz="1050" b="1">
                <a:solidFill>
                  <a:srgbClr val="0066CC"/>
                </a:solidFill>
                <a:latin typeface="Arial"/>
              </a:rPr>
              <a:t>2. Diagnostic Value of History-Taking: </a:t>
            </a:r>
            <a:r>
              <a:rPr sz="1000">
                <a:solidFill>
                  <a:srgbClr val="1E293B"/>
                </a:solidFill>
                <a:latin typeface="Arial"/>
              </a:rPr>
              <a:t>Hampton JR, Harrison MJ, Mitchell JR, Prichard JS, Seymour C. "Relative contributions of history-taking, physical examination, and laboratory investigation to diagnosis and management of medical outpatients." BMJ. 1975;2(5969):486-489. DOI: 10.1136/bmj.2.5969.486</a:t>
            </a:r>
          </a:p>
          <a:p>
            <a:pPr>
              <a:spcBef>
                <a:spcPts val="100"/>
              </a:spcBef>
              <a:spcAft>
                <a:spcPts val="300"/>
              </a:spcAft>
              <a:buNone/>
            </a:pPr>
            <a:r>
              <a:rPr sz="1050" b="1">
                <a:solidFill>
                  <a:srgbClr val="0066CC"/>
                </a:solidFill>
                <a:latin typeface="Arial"/>
              </a:rPr>
              <a:t>3. Classical Ayurvedic Diagnostic Framework: </a:t>
            </a:r>
            <a:r>
              <a:rPr sz="1000">
                <a:solidFill>
                  <a:srgbClr val="1E293B"/>
                </a:solidFill>
                <a:latin typeface="Arial"/>
              </a:rPr>
              <a:t>Charaka Samhita, Vimana Sthana, Chapter 8 (Rogabhishagjitiya Vimanam, Verses 94–130) — Standard Dashavidha Pariksha clinical ontology.</a:t>
            </a:r>
          </a:p>
          <a:p>
            <a:pPr>
              <a:spcBef>
                <a:spcPts val="100"/>
              </a:spcBef>
              <a:spcAft>
                <a:spcPts val="300"/>
              </a:spcAft>
              <a:buNone/>
            </a:pPr>
            <a:r>
              <a:rPr sz="1050" b="1">
                <a:solidFill>
                  <a:srgbClr val="0066CC"/>
                </a:solidFill>
                <a:latin typeface="Arial"/>
              </a:rPr>
              <a:t>4. National Resource Centre for EHR Standards: </a:t>
            </a:r>
            <a:r>
              <a:rPr sz="1000">
                <a:solidFill>
                  <a:srgbClr val="1E293B"/>
                </a:solidFill>
                <a:latin typeface="Arial"/>
              </a:rPr>
              <a:t>NRCeS India FHIR R4 Implementation Guide for Ayushman Bharat Digital Mission (ABDM). URL: nrces.in/ndhm/fhir/r4/</a:t>
            </a:r>
          </a:p>
          <a:p>
            <a:pPr>
              <a:spcBef>
                <a:spcPts val="100"/>
              </a:spcBef>
              <a:spcAft>
                <a:spcPts val="300"/>
              </a:spcAft>
              <a:buNone/>
            </a:pPr>
            <a:r>
              <a:rPr sz="1050" b="1">
                <a:solidFill>
                  <a:srgbClr val="0066CC"/>
                </a:solidFill>
                <a:latin typeface="Arial"/>
              </a:rPr>
              <a:t>5. National Health Authority (NHA) Specifications: </a:t>
            </a:r>
            <a:r>
              <a:rPr sz="1000">
                <a:solidFill>
                  <a:srgbClr val="1E293B"/>
                </a:solidFill>
                <a:latin typeface="Arial"/>
              </a:rPr>
              <a:t>ABDM Milestone 3 (M3_V1) &amp; NHCX FHIR Coverage Eligibility Guidelines. URL: sandbox.abdm.gov.in</a:t>
            </a:r>
          </a:p>
          <a:p>
            <a:pPr>
              <a:spcBef>
                <a:spcPts val="100"/>
              </a:spcBef>
              <a:spcAft>
                <a:spcPts val="300"/>
              </a:spcAft>
              <a:buNone/>
            </a:pPr>
            <a:r>
              <a:rPr sz="1050" b="1">
                <a:solidFill>
                  <a:srgbClr val="0066CC"/>
                </a:solidFill>
                <a:latin typeface="Arial"/>
              </a:rPr>
              <a:t>6. Data Privacy &amp; Sovereign Regulation: </a:t>
            </a:r>
            <a:r>
              <a:rPr sz="1000">
                <a:solidFill>
                  <a:srgbClr val="1E293B"/>
                </a:solidFill>
                <a:latin typeface="Arial"/>
              </a:rPr>
              <a:t>The Digital Personal Data Protection Act, 2023 (Act No. 22 of 2023), Ministry of Law and Justice, Government of India. Gazette Notification Aug 11, 2023.</a:t>
            </a:r>
          </a:p>
          <a:p>
            <a:pPr>
              <a:spcBef>
                <a:spcPts val="100"/>
              </a:spcBef>
              <a:spcAft>
                <a:spcPts val="300"/>
              </a:spcAft>
              <a:buNone/>
            </a:pPr>
            <a:r>
              <a:rPr sz="1050" b="1">
                <a:solidFill>
                  <a:srgbClr val="0066CC"/>
                </a:solidFill>
                <a:latin typeface="Arial"/>
              </a:rPr>
              <a:t>7. Sovereign Indic AI Platform: </a:t>
            </a:r>
            <a:r>
              <a:rPr sz="1000">
                <a:solidFill>
                  <a:srgbClr val="1E293B"/>
                </a:solidFill>
                <a:latin typeface="Arial"/>
              </a:rPr>
              <a:t>Sarvam AI Developer Documentation: Saaras v3 (STT), Bulbul v3 (TTS), Sarvam Vision 3B VLM. URL: sarvam.ai</a:t>
            </a:r>
          </a:p>
          <a:p>
            <a:pPr>
              <a:spcBef>
                <a:spcPts val="100"/>
              </a:spcBef>
              <a:spcAft>
                <a:spcPts val="300"/>
              </a:spcAft>
              <a:buNone/>
            </a:pPr>
            <a:r>
              <a:rPr sz="1050" b="1">
                <a:solidFill>
                  <a:srgbClr val="0066CC"/>
                </a:solidFill>
                <a:latin typeface="Arial"/>
              </a:rPr>
              <a:t>8. Certified National ABDM Gateway: </a:t>
            </a:r>
            <a:r>
              <a:rPr sz="1000">
                <a:solidFill>
                  <a:srgbClr val="1E293B"/>
                </a:solidFill>
                <a:latin typeface="Arial"/>
              </a:rPr>
              <a:t>Eka Care ABDM Connect Developer Suite: NHA-Certified M1, M2, and M3 APIs. URL: developer.eka.care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